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77bb946-fb3d-97d7-1f54-1fc1f69e28a1}">
          <p14:sldIdLst>
            <p14:sldId id="256"/>
            <p14:sldId id="257"/>
          </p14:sldIdLst>
        </p14:section>
        <p14:section name="Design" id="{23cf8d32-f60f-d8bf-37b6-dd129e2d2784}">
          <p14:sldIdLst>
            <p14:sldId id="258"/>
            <p14:sldId id="259"/>
            <p14:sldId id="260"/>
          </p14:sldIdLst>
        </p14:section>
        <p14:section name="Build" id="{f910345e-3f01-b372-b824-c556ae3a3a4e}">
          <p14:sldIdLst>
            <p14:sldId id="261"/>
          </p14:sldIdLst>
        </p14:section>
        <p14:section name="Results" id="{cf0aadba-9165-4936-ebfe-e1b5d2415a0d}">
          <p14:sldIdLst>
            <p14:sldId id="262"/>
          </p14:sldIdLst>
        </p14:section>
        <p14:section name="Wrap-up" id="{b54b4f96-220b-ca42-d8cb-d9d6766c863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Assignment Reviewer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An AI that marks student answers and sends borderline scores to a teacher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Sumaira  |  Artificial Intelligence and Data Science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 and the idea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short answers by hand is slow and inconsistent.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can score against a fixed rubric in seconds.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AI scores can be wrong, so uncertain scores go to a teacher.</a:t>
            </a:r>
            <a:endParaRPr lang="en-US" sz="2000" dirty="0"/>
          </a:p>
        </p:txBody>
      </p:sp>
      <p:sp>
        <p:nvSpPr>
          <p:cNvPr id="4" name="QuestionCard"/>
          <p:cNvSpPr/>
          <p:nvPr/>
        </p:nvSpPr>
        <p:spPr>
          <a:xfrm>
            <a:off x="6766560" y="1645920"/>
            <a:ext cx="475488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2860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supervised and unsupervised learning. Give one example of each.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38404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returns a score out of 10, short feedback and a status.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each library does</a:t>
            </a:r>
            <a:endParaRPr lang="en-US" sz="3600" dirty="0"/>
          </a:p>
        </p:txBody>
      </p:sp>
      <p:sp>
        <p:nvSpPr>
          <p:cNvPr id="3" name="Lib1"/>
          <p:cNvSpPr/>
          <p:nvPr/>
        </p:nvSpPr>
        <p:spPr>
          <a:xfrm>
            <a:off x="640080" y="155448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prompt and the Groq model and returns a structured review (Pydantic).</a:t>
            </a:r>
            <a:endParaRPr lang="en-US" sz="1700" dirty="0"/>
          </a:p>
        </p:txBody>
      </p:sp>
      <p:sp>
        <p:nvSpPr>
          <p:cNvPr id="6" name="Lib2"/>
          <p:cNvSpPr/>
          <p:nvPr/>
        </p:nvSpPr>
        <p:spPr>
          <a:xfrm>
            <a:off x="6217920" y="155448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evaluate step and routes scores 4 to 6 to teacher review.</a:t>
            </a:r>
            <a:endParaRPr lang="en-US" sz="1700" dirty="0"/>
          </a:p>
        </p:txBody>
      </p:sp>
      <p:sp>
        <p:nvSpPr>
          <p:cNvPr id="9" name="Lib3"/>
          <p:cNvSpPr/>
          <p:nvPr/>
        </p:nvSpPr>
        <p:spPr>
          <a:xfrm>
            <a:off x="640080" y="393192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every run: prompts, answers and graph steps, when enabled.</a:t>
            </a:r>
            <a:endParaRPr lang="en-US" sz="1700" dirty="0"/>
          </a:p>
        </p:txBody>
      </p:sp>
      <p:sp>
        <p:nvSpPr>
          <p:cNvPr id="12" name="Lib4"/>
          <p:cNvSpPr/>
          <p:nvPr/>
        </p:nvSpPr>
        <p:spPr>
          <a:xfrm>
            <a:off x="6217920" y="3931920"/>
            <a:ext cx="53035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LLM that scores the answer with the rubric.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LangGraph flow with a decision</a:t>
            </a:r>
            <a:endParaRPr lang="en-US" sz="3600" dirty="0"/>
          </a:p>
        </p:txBody>
      </p:sp>
      <p:sp>
        <p:nvSpPr>
          <p:cNvPr id="3" name="FlowStart"/>
          <p:cNvSpPr/>
          <p:nvPr/>
        </p:nvSpPr>
        <p:spPr>
          <a:xfrm>
            <a:off x="640080" y="301752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017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</a:t>
            </a:r>
            <a:endParaRPr lang="en-US" sz="2000" dirty="0"/>
          </a:p>
        </p:txBody>
      </p:sp>
      <p:sp>
        <p:nvSpPr>
          <p:cNvPr id="5" name="FlowArrow1"/>
          <p:cNvSpPr/>
          <p:nvPr/>
        </p:nvSpPr>
        <p:spPr>
          <a:xfrm>
            <a:off x="2743200" y="3291840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FlowEval"/>
          <p:cNvSpPr/>
          <p:nvPr/>
        </p:nvSpPr>
        <p:spPr>
          <a:xfrm>
            <a:off x="3291840" y="301752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2000" dirty="0"/>
          </a:p>
        </p:txBody>
      </p:sp>
      <p:sp>
        <p:nvSpPr>
          <p:cNvPr id="8" name="FlowArrow2"/>
          <p:cNvSpPr/>
          <p:nvPr/>
        </p:nvSpPr>
        <p:spPr>
          <a:xfrm>
            <a:off x="5577840" y="3291840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FlowDecision"/>
          <p:cNvSpPr/>
          <p:nvPr/>
        </p:nvSpPr>
        <p:spPr>
          <a:xfrm>
            <a:off x="6126480" y="2697480"/>
            <a:ext cx="1554480" cy="1554480"/>
          </a:xfrm>
          <a:prstGeom prst="diamond">
            <a:avLst/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 to 6?</a:t>
            </a:r>
            <a:endParaRPr lang="en-US" sz="1400" dirty="0"/>
          </a:p>
        </p:txBody>
      </p:sp>
      <p:sp>
        <p:nvSpPr>
          <p:cNvPr id="11" name="FlowArrowYes"/>
          <p:cNvSpPr/>
          <p:nvPr/>
        </p:nvSpPr>
        <p:spPr>
          <a:xfrm>
            <a:off x="7772400" y="2148840"/>
            <a:ext cx="45720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FlowArrowNo"/>
          <p:cNvSpPr/>
          <p:nvPr/>
        </p:nvSpPr>
        <p:spPr>
          <a:xfrm>
            <a:off x="7772400" y="4434840"/>
            <a:ext cx="45720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lowTeacher"/>
          <p:cNvSpPr/>
          <p:nvPr/>
        </p:nvSpPr>
        <p:spPr>
          <a:xfrm>
            <a:off x="8412480" y="178308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783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teacher_review</a:t>
            </a:r>
            <a:endParaRPr lang="en-US" sz="2000" dirty="0"/>
          </a:p>
        </p:txBody>
      </p:sp>
      <p:sp>
        <p:nvSpPr>
          <p:cNvPr id="15" name="FlowFinish"/>
          <p:cNvSpPr/>
          <p:nvPr/>
        </p:nvSpPr>
        <p:spPr>
          <a:xfrm>
            <a:off x="8412480" y="406908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4069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borderline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clear 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end the graph. Teacher review is an on-screen flag, not a saved queue.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rubric: 10 marks</a:t>
            </a:r>
            <a:endParaRPr lang="en-US" sz="3600" dirty="0"/>
          </a:p>
        </p:txBody>
      </p:sp>
      <p:sp>
        <p:nvSpPr>
          <p:cNvPr id="3" name="Rubric1"/>
          <p:cNvSpPr/>
          <p:nvPr/>
        </p:nvSpPr>
        <p:spPr>
          <a:xfrm>
            <a:off x="6400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explained</a:t>
            </a:r>
            <a:endParaRPr lang="en-US" sz="1800" dirty="0"/>
          </a:p>
        </p:txBody>
      </p:sp>
      <p:sp>
        <p:nvSpPr>
          <p:cNvPr id="6" name="Rubric2"/>
          <p:cNvSpPr/>
          <p:nvPr/>
        </p:nvSpPr>
        <p:spPr>
          <a:xfrm>
            <a:off x="34747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explained</a:t>
            </a:r>
            <a:endParaRPr lang="en-US" sz="1800" dirty="0"/>
          </a:p>
        </p:txBody>
      </p:sp>
      <p:sp>
        <p:nvSpPr>
          <p:cNvPr id="9" name="Rubric3"/>
          <p:cNvSpPr/>
          <p:nvPr/>
        </p:nvSpPr>
        <p:spPr>
          <a:xfrm>
            <a:off x="63093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example</a:t>
            </a:r>
            <a:endParaRPr lang="en-US" sz="1800" dirty="0"/>
          </a:p>
        </p:txBody>
      </p:sp>
      <p:sp>
        <p:nvSpPr>
          <p:cNvPr id="12" name="Rubric4"/>
          <p:cNvSpPr/>
          <p:nvPr/>
        </p:nvSpPr>
        <p:spPr>
          <a:xfrm>
            <a:off x="914400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example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given only for correct content that is present. The student answer is treated as data, so instructions hidden inside it are ignored.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web interface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answer or fill in a sample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circled like a teacher's red pen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bars for each of the 4 criteria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review status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showing the branch the graph took</a:t>
            </a:r>
            <a:endParaRPr lang="en-US" sz="1800" dirty="0"/>
          </a:p>
        </p:txBody>
      </p:sp>
      <p:pic>
        <p:nvPicPr>
          <p:cNvPr id="4" name="Image 0" descr="Screenshot of the Assignment Reviewer web inte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63040"/>
            <a:ext cx="5486400" cy="479126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Sample run</a:t>
            </a:r>
            <a:endParaRPr lang="en-US" sz="3600" dirty="0"/>
          </a:p>
        </p:txBody>
      </p:sp>
      <p:sp>
        <p:nvSpPr>
          <p:cNvPr id="3" name="AnswerCard"/>
          <p:cNvSpPr/>
          <p:nvPr/>
        </p:nvSpPr>
        <p:spPr>
          <a:xfrm>
            <a:off x="640080" y="1554480"/>
            <a:ext cx="512064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"Supervised learning trains a model on labeled data, for example classifying emails as spam or not spam. Unsupervised learning is the other type of machine learning."</a:t>
            </a:r>
            <a:endParaRPr lang="en-US" sz="1800" dirty="0"/>
          </a:p>
        </p:txBody>
      </p:sp>
      <p:sp>
        <p:nvSpPr>
          <p:cNvPr id="6" name="SampleArrow"/>
          <p:cNvSpPr/>
          <p:nvPr/>
        </p:nvSpPr>
        <p:spPr>
          <a:xfrm>
            <a:off x="5897880" y="3200400"/>
            <a:ext cx="36576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ResultCard"/>
          <p:cNvSpPr/>
          <p:nvPr/>
        </p:nvSpPr>
        <p:spPr>
          <a:xfrm>
            <a:off x="6492240" y="1554480"/>
            <a:ext cx="502920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6/10</a:t>
            </a:r>
            <a:endParaRPr lang="en-US" sz="5400" dirty="0"/>
          </a:p>
        </p:txBody>
      </p:sp>
      <p:sp>
        <p:nvSpPr>
          <p:cNvPr id="9" name="ReviewBadge"/>
          <p:cNvSpPr/>
          <p:nvPr/>
        </p:nvSpPr>
        <p:spPr>
          <a:xfrm>
            <a:off x="9052560" y="1965960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9260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Supervised: 3/3, example 2/2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Unsupervised: 1/3, example 0/2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describe how patterns are found in unlabeled data and add an example.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Conclusion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LangChain + LangGraph reviewer with tracing and a human-in-the-loop branch. Next: a saved teacher queue, multiple questions, and teacher approval.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er">
  <a:themeElements>
    <a:clrScheme name="Reviewer">
      <a:dk1>
        <a:srgbClr val="1C2541"/>
      </a:dk1>
      <a:lt1>
        <a:srgbClr val="FFFFFF"/>
      </a:lt1>
      <a:dk2>
        <a:srgbClr val="2D3E8F"/>
      </a:dk2>
      <a:lt2>
        <a:srgbClr val="F1F3FA"/>
      </a:lt2>
      <a:accent1>
        <a:srgbClr val="2D3E8F"/>
      </a:accent1>
      <a:accent2>
        <a:srgbClr val="C8312B"/>
      </a:accent2>
      <a:accent3>
        <a:srgbClr val="8A5A00"/>
      </a:accent3>
      <a:accent4>
        <a:srgbClr val="1F7A4D"/>
      </a:accent4>
      <a:accent5>
        <a:srgbClr val="5B6485"/>
      </a:accent5>
      <a:accent6>
        <a:srgbClr val="E4E8F8"/>
      </a:accent6>
      <a:hlink>
        <a:srgbClr val="2D3E8F"/>
      </a:hlink>
      <a:folHlink>
        <a:srgbClr val="5B6485"/>
      </a:folHlink>
    </a:clrScheme>
    <a:fontScheme name="Review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Reviewer</dc:title>
  <dc:subject>PptxGenJS Presentation</dc:subject>
  <dc:creator>PptxGenJS</dc:creator>
  <cp:lastModifiedBy>PptxGenJS</cp:lastModifiedBy>
  <cp:revision>1</cp:revision>
  <dcterms:created xsi:type="dcterms:W3CDTF">2026-10-25T19:57:06Z</dcterms:created>
  <dcterms:modified xsi:type="dcterms:W3CDTF">2026-10-25T19:57:06Z</dcterms:modified>
</cp:coreProperties>
</file>